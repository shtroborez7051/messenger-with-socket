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3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96B455E-F0E5-4819-A423-C23DE9C86C47}">
          <p14:sldIdLst>
            <p14:sldId id="256"/>
            <p14:sldId id="257"/>
            <p14:sldId id="258"/>
            <p14:sldId id="259"/>
            <p14:sldId id="262"/>
            <p14:sldId id="260"/>
            <p14:sldId id="264"/>
            <p14:sldId id="263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7BA6"/>
    <a:srgbClr val="89AFD2"/>
    <a:srgbClr val="7FA5C8"/>
    <a:srgbClr val="93B9DC"/>
    <a:srgbClr val="42719C"/>
    <a:srgbClr val="386792"/>
    <a:srgbClr val="1F4E79"/>
    <a:srgbClr val="3C70C1"/>
    <a:srgbClr val="2E75B6"/>
    <a:srgbClr val="4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E929-28B6-4977-808F-077CF1C2BD4C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82B-5DD1-4863-A034-50D6617C76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08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79C82B-5DD1-4863-A034-50D6617C767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0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04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49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98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17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58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65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0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21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33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7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9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B9B75-0F7E-4715-B3C0-976B52465646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A84DD-969C-42B9-B0FC-8A4D5F37F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82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cap="all" dirty="0">
                <a:solidFill>
                  <a:schemeClr val="bg1"/>
                </a:solidFill>
              </a:rPr>
              <a:t>средство безопасной передачи и хранения информации в корпоративной среде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45141" y="5613717"/>
            <a:ext cx="5756745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Выполнил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Исмагилов Булат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Фиргатович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Учитель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r>
              <a:rPr lang="ru-RU" dirty="0" smtClean="0">
                <a:solidFill>
                  <a:schemeClr val="bg1"/>
                </a:solidFill>
              </a:rPr>
              <a:t> Садриев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Вячеслав Эдуардович</a:t>
            </a:r>
          </a:p>
        </p:txBody>
      </p:sp>
    </p:spTree>
    <p:extLst>
      <p:ext uri="{BB962C8B-B14F-4D97-AF65-F5344CB8AC3E}">
        <p14:creationId xmlns:p14="http://schemas.microsoft.com/office/powerpoint/2010/main" val="147972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/>
        </p:nvGrpSpPr>
        <p:grpSpPr>
          <a:xfrm>
            <a:off x="0" y="0"/>
            <a:ext cx="12631973" cy="6858000"/>
            <a:chOff x="-1" y="0"/>
            <a:chExt cx="12631973" cy="6858000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-1" y="0"/>
              <a:ext cx="3921584" cy="6858000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917342" y="0"/>
              <a:ext cx="4357315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8274657" y="0"/>
              <a:ext cx="4357315" cy="685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70252" y="0"/>
            <a:ext cx="427235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Актуальность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5613" y="1545579"/>
            <a:ext cx="3321903" cy="300214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5700" dirty="0" smtClean="0">
                <a:solidFill>
                  <a:schemeClr val="bg1"/>
                </a:solidFill>
              </a:rPr>
              <a:t>2025</a:t>
            </a:r>
            <a:endParaRPr lang="ru-RU" sz="57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3200" dirty="0" smtClean="0">
                <a:solidFill>
                  <a:schemeClr val="bg1"/>
                </a:solidFill>
              </a:rPr>
              <a:t>Лишение доступа к документации </a:t>
            </a:r>
            <a:r>
              <a:rPr lang="ru-RU" sz="3200" dirty="0" err="1" smtClean="0">
                <a:solidFill>
                  <a:schemeClr val="bg1"/>
                </a:solidFill>
              </a:rPr>
              <a:t>Promobot</a:t>
            </a:r>
            <a:endParaRPr lang="ru-RU" sz="3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16" name="Объект 2"/>
          <p:cNvSpPr txBox="1">
            <a:spLocks/>
          </p:cNvSpPr>
          <p:nvPr/>
        </p:nvSpPr>
        <p:spPr>
          <a:xfrm>
            <a:off x="4100406" y="1116701"/>
            <a:ext cx="3984555" cy="3244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ru-RU" sz="40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4300" dirty="0" smtClean="0">
                <a:solidFill>
                  <a:schemeClr val="bg1"/>
                </a:solidFill>
              </a:rPr>
              <a:t>2024</a:t>
            </a:r>
            <a:endParaRPr lang="ru-RU" sz="43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200" dirty="0" smtClean="0">
                <a:solidFill>
                  <a:schemeClr val="bg1"/>
                </a:solidFill>
              </a:rPr>
              <a:t>Утечки результатов аудита </a:t>
            </a:r>
            <a:r>
              <a:rPr lang="ru-RU" sz="2200" dirty="0" err="1" smtClean="0">
                <a:solidFill>
                  <a:schemeClr val="bg1"/>
                </a:solidFill>
              </a:rPr>
              <a:t>SoftMall</a:t>
            </a:r>
            <a:r>
              <a:rPr lang="ru-RU" sz="2200" dirty="0" smtClean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</p:txBody>
      </p:sp>
      <p:sp>
        <p:nvSpPr>
          <p:cNvPr id="17" name="Объект 2"/>
          <p:cNvSpPr txBox="1">
            <a:spLocks/>
          </p:cNvSpPr>
          <p:nvPr/>
        </p:nvSpPr>
        <p:spPr>
          <a:xfrm>
            <a:off x="8817548" y="1274496"/>
            <a:ext cx="3143081" cy="3544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200" dirty="0" smtClean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4300" dirty="0" smtClean="0">
                <a:solidFill>
                  <a:schemeClr val="bg1"/>
                </a:solidFill>
              </a:rPr>
              <a:t>2023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Утечка базы данных «Кордон РФ [2023]»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 smtClean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13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Функции проекта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63935" y="50180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80962" y="1575594"/>
            <a:ext cx="3165945" cy="219266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Шифрованная передача сообщений </a:t>
            </a:r>
            <a:r>
              <a:rPr lang="en-US" sz="2000" dirty="0" smtClean="0"/>
              <a:t>SSL</a:t>
            </a:r>
          </a:p>
          <a:p>
            <a:pPr algn="ctr"/>
            <a:r>
              <a:rPr lang="en-US" sz="2000" dirty="0" smtClean="0"/>
              <a:t>RSA + AES-256</a:t>
            </a:r>
            <a:endParaRPr lang="en-US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579698" y="1576872"/>
            <a:ext cx="3165945" cy="2190104"/>
          </a:xfrm>
          <a:prstGeom prst="rect">
            <a:avLst/>
          </a:prstGeom>
          <a:solidFill>
            <a:srgbClr val="3867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Контрольная строка</a:t>
            </a:r>
          </a:p>
          <a:p>
            <a:pPr algn="ctr"/>
            <a:r>
              <a:rPr lang="ru-RU" sz="1600" dirty="0" smtClean="0"/>
              <a:t>(</a:t>
            </a:r>
            <a:r>
              <a:rPr lang="en-US" sz="1600" dirty="0" smtClean="0"/>
              <a:t>“</a:t>
            </a:r>
            <a:r>
              <a:rPr lang="ru-RU" sz="1600" dirty="0" smtClean="0"/>
              <a:t>Человек посередине</a:t>
            </a:r>
            <a:r>
              <a:rPr lang="en-US" sz="1600" dirty="0" smtClean="0"/>
              <a:t>”</a:t>
            </a:r>
            <a:r>
              <a:rPr lang="ru-RU" sz="1600" dirty="0" smtClean="0"/>
              <a:t>)</a:t>
            </a:r>
            <a:endParaRPr lang="en-US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53459" y="1575594"/>
            <a:ext cx="3169716" cy="2169371"/>
          </a:xfrm>
          <a:prstGeom prst="rect">
            <a:avLst/>
          </a:prstGeom>
          <a:solidFill>
            <a:srgbClr val="4C7B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Блокировка интерфейсов для внешних устройств </a:t>
            </a:r>
            <a:endParaRPr lang="ru-RU" sz="2000" dirty="0" smtClean="0"/>
          </a:p>
          <a:p>
            <a:pPr algn="ctr"/>
            <a:r>
              <a:rPr lang="ru-RU" sz="1600" dirty="0" smtClean="0"/>
              <a:t>(Снятие дампов программы)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0961" y="3971707"/>
            <a:ext cx="3165945" cy="2190104"/>
          </a:xfrm>
          <a:prstGeom prst="rect">
            <a:avLst/>
          </a:prstGeom>
          <a:solidFill>
            <a:srgbClr val="3867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Шифрованное хранилище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9698" y="3971752"/>
            <a:ext cx="3165945" cy="2190059"/>
          </a:xfrm>
          <a:prstGeom prst="rect">
            <a:avLst/>
          </a:prstGeom>
          <a:solidFill>
            <a:srgbClr val="4C7B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Просмотр </a:t>
            </a:r>
            <a:r>
              <a:rPr lang="ru-RU" dirty="0"/>
              <a:t>и </a:t>
            </a:r>
            <a:r>
              <a:rPr lang="ru-RU" dirty="0" smtClean="0"/>
              <a:t>изменение файлов </a:t>
            </a:r>
            <a:r>
              <a:rPr lang="ru-RU" dirty="0"/>
              <a:t>без извлечения из </a:t>
            </a:r>
            <a:r>
              <a:rPr lang="ru-RU" dirty="0" smtClean="0"/>
              <a:t>хранилища</a:t>
            </a:r>
          </a:p>
          <a:p>
            <a:pPr algn="ctr"/>
            <a:r>
              <a:rPr lang="ru-RU" sz="1600" dirty="0" smtClean="0"/>
              <a:t>(Утечка не зашифрованных данных и несанкционированный доступ)</a:t>
            </a:r>
            <a:endParaRPr lang="ru-RU" sz="1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8357230" y="3994441"/>
            <a:ext cx="3165945" cy="2190104"/>
          </a:xfrm>
          <a:prstGeom prst="rect">
            <a:avLst/>
          </a:prstGeom>
          <a:solidFill>
            <a:srgbClr val="7FA5C8"/>
          </a:solidFill>
          <a:ln>
            <a:solidFill>
              <a:srgbClr val="89AF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Удобный и понятный интерфейс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2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040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8055" y="35478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Аналоги</a:t>
            </a:r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651155" y="1242930"/>
            <a:ext cx="3494148" cy="4862825"/>
            <a:chOff x="651155" y="1242930"/>
            <a:chExt cx="3494148" cy="4862825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651155" y="1338975"/>
              <a:ext cx="3458747" cy="47667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бъект 2"/>
            <p:cNvSpPr txBox="1">
              <a:spLocks/>
            </p:cNvSpPr>
            <p:nvPr/>
          </p:nvSpPr>
          <p:spPr>
            <a:xfrm>
              <a:off x="726679" y="1242930"/>
              <a:ext cx="3418624" cy="44376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endParaRPr lang="ru-RU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dirty="0" smtClean="0">
                  <a:solidFill>
                    <a:schemeClr val="bg1"/>
                  </a:solidFill>
                </a:rPr>
                <a:t>Главный аналог</a:t>
              </a:r>
              <a:endParaRPr lang="ru-RU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 err="1" smtClean="0">
                  <a:solidFill>
                    <a:schemeClr val="bg1"/>
                  </a:solidFill>
                </a:rPr>
                <a:t>eXpress</a:t>
              </a:r>
              <a:endParaRPr lang="ru-RU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 smtClean="0">
                  <a:solidFill>
                    <a:schemeClr val="bg1"/>
                  </a:solidFill>
                </a:rPr>
                <a:t> </a:t>
              </a:r>
              <a:endParaRPr lang="ru-RU" sz="1800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800" dirty="0" smtClean="0">
                  <a:solidFill>
                    <a:schemeClr val="bg1"/>
                  </a:solidFill>
                </a:rPr>
                <a:t>Компания может запустить сервер на своей машине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800" dirty="0" smtClean="0">
                  <a:solidFill>
                    <a:schemeClr val="bg1"/>
                  </a:solidFill>
                </a:rPr>
                <a:t>Кроссплатформенный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800" dirty="0" err="1">
                  <a:solidFill>
                    <a:schemeClr val="bg1"/>
                  </a:solidFill>
                </a:rPr>
                <a:t>В</a:t>
              </a:r>
              <a:r>
                <a:rPr lang="ru-RU" sz="1800" dirty="0" err="1" smtClean="0">
                  <a:solidFill>
                    <a:schemeClr val="bg1"/>
                  </a:solidFill>
                </a:rPr>
                <a:t>идеозвонки</a:t>
              </a:r>
              <a:endParaRPr lang="ru-RU" sz="1800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800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800" u="sng" dirty="0" smtClean="0">
                  <a:solidFill>
                    <a:schemeClr val="bg1"/>
                  </a:solidFill>
                </a:rPr>
                <a:t>Нет системы безопасного хранения данных</a:t>
              </a: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800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800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9" name="Прямоугольник 8"/>
          <p:cNvSpPr/>
          <p:nvPr/>
        </p:nvSpPr>
        <p:spPr>
          <a:xfrm>
            <a:off x="8425752" y="1327722"/>
            <a:ext cx="3450168" cy="4766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81720" y="1385571"/>
            <a:ext cx="3338231" cy="464287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err="1" smtClean="0">
                <a:solidFill>
                  <a:schemeClr val="bg1"/>
                </a:solidFill>
              </a:rPr>
              <a:t>Sqadus</a:t>
            </a:r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dirty="0" err="1" smtClean="0">
                <a:solidFill>
                  <a:schemeClr val="bg1"/>
                </a:solidFill>
              </a:rPr>
              <a:t>Там.Там</a:t>
            </a:r>
            <a:endParaRPr lang="ru-RU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1800" dirty="0" err="1" smtClean="0">
                <a:solidFill>
                  <a:schemeClr val="bg1"/>
                </a:solidFill>
              </a:rPr>
              <a:t>Видеозвонки</a:t>
            </a:r>
            <a:endParaRPr lang="ru-RU" sz="1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1800" dirty="0" smtClean="0">
                <a:solidFill>
                  <a:schemeClr val="bg1"/>
                </a:solidFill>
              </a:rPr>
              <a:t>Кроссплатформенный</a:t>
            </a:r>
            <a:endParaRPr lang="ru-RU" sz="1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sz="1600" u="sng" dirty="0">
                <a:solidFill>
                  <a:schemeClr val="bg1"/>
                </a:solidFill>
              </a:rPr>
              <a:t>Нет системы безопасного хранения данных</a:t>
            </a:r>
          </a:p>
          <a:p>
            <a:pPr marL="0" indent="0" algn="ctr">
              <a:buNone/>
            </a:pPr>
            <a:r>
              <a:rPr lang="ru-RU" sz="1600" u="sng" dirty="0">
                <a:solidFill>
                  <a:schemeClr val="bg1"/>
                </a:solidFill>
              </a:rPr>
              <a:t>Работает только на серверах </a:t>
            </a:r>
            <a:r>
              <a:rPr lang="ru-RU" sz="1600" u="sng" dirty="0" smtClean="0">
                <a:solidFill>
                  <a:schemeClr val="bg1"/>
                </a:solidFill>
              </a:rPr>
              <a:t>компании</a:t>
            </a:r>
            <a:endParaRPr lang="ru-RU" sz="1600" dirty="0" smtClean="0">
              <a:solidFill>
                <a:schemeClr val="bg1"/>
              </a:solidFill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4416482" y="1095900"/>
            <a:ext cx="3581256" cy="5009855"/>
            <a:chOff x="4531805" y="888179"/>
            <a:chExt cx="3581256" cy="5009855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4654314" y="1131254"/>
              <a:ext cx="3458747" cy="4766780"/>
            </a:xfrm>
            <a:prstGeom prst="rect">
              <a:avLst/>
            </a:prstGeom>
            <a:solidFill>
              <a:srgbClr val="38679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бъект 2"/>
            <p:cNvSpPr txBox="1">
              <a:spLocks/>
            </p:cNvSpPr>
            <p:nvPr/>
          </p:nvSpPr>
          <p:spPr>
            <a:xfrm>
              <a:off x="4531805" y="888179"/>
              <a:ext cx="3458747" cy="464539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endParaRPr lang="en-US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3600" dirty="0" err="1" smtClean="0">
                  <a:solidFill>
                    <a:schemeClr val="bg1"/>
                  </a:solidFill>
                </a:rPr>
                <a:t>Контур.Толк</a:t>
              </a:r>
              <a:endParaRPr lang="ru-RU" sz="3600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900" dirty="0" smtClean="0">
                  <a:solidFill>
                    <a:schemeClr val="bg1"/>
                  </a:solidFill>
                </a:rPr>
                <a:t>Система определения </a:t>
              </a:r>
              <a:r>
                <a:rPr lang="ru-RU" sz="1900" dirty="0" err="1" smtClean="0">
                  <a:solidFill>
                    <a:schemeClr val="bg1"/>
                  </a:solidFill>
                </a:rPr>
                <a:t>дипфейков</a:t>
              </a:r>
              <a:endParaRPr lang="ru-RU" sz="1900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r>
                <a:rPr lang="ru-RU" sz="1900" dirty="0" err="1" smtClean="0">
                  <a:solidFill>
                    <a:schemeClr val="bg1"/>
                  </a:solidFill>
                </a:rPr>
                <a:t>Видеозвонки</a:t>
              </a:r>
              <a:endParaRPr lang="ru-RU" sz="1900" dirty="0" smtClean="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ru-RU" sz="2000" dirty="0" smtClean="0">
                  <a:solidFill>
                    <a:schemeClr val="bg1"/>
                  </a:solidFill>
                </a:rPr>
                <a:t>Кроссплатформенный</a:t>
              </a:r>
              <a:endParaRPr lang="ru-RU" sz="2000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900" dirty="0" smtClean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800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ru-RU" sz="1800" dirty="0" smtClean="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ru-RU" sz="1900" u="sng" dirty="0">
                  <a:solidFill>
                    <a:schemeClr val="bg1"/>
                  </a:solidFill>
                </a:rPr>
                <a:t>Нет системы безопасного хранения </a:t>
              </a:r>
              <a:r>
                <a:rPr lang="ru-RU" sz="1900" u="sng" dirty="0" smtClean="0">
                  <a:solidFill>
                    <a:schemeClr val="bg1"/>
                  </a:solidFill>
                </a:rPr>
                <a:t>данных</a:t>
              </a:r>
            </a:p>
            <a:p>
              <a:pPr marL="0" indent="0" algn="ctr">
                <a:buNone/>
              </a:pPr>
              <a:r>
                <a:rPr lang="ru-RU" sz="1900" u="sng" dirty="0" smtClean="0">
                  <a:solidFill>
                    <a:schemeClr val="bg1"/>
                  </a:solidFill>
                </a:rPr>
                <a:t>Работает только на серверах компании</a:t>
              </a:r>
              <a:endParaRPr lang="ru-RU" sz="1900" u="sng" dirty="0">
                <a:solidFill>
                  <a:schemeClr val="bg1"/>
                </a:solidFill>
              </a:endParaRPr>
            </a:p>
            <a:p>
              <a:pPr marL="0" indent="0" algn="ctr">
                <a:buFont typeface="Arial" panose="020B0604020202020204" pitchFamily="34" charset="0"/>
                <a:buNone/>
              </a:pPr>
              <a:endParaRPr lang="en-US" sz="1800" dirty="0" smtClean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120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411" y="1269065"/>
            <a:ext cx="7835178" cy="4319869"/>
          </a:xfrm>
        </p:spPr>
      </p:pic>
    </p:spTree>
    <p:extLst>
      <p:ext uri="{BB962C8B-B14F-4D97-AF65-F5344CB8AC3E}">
        <p14:creationId xmlns:p14="http://schemas.microsoft.com/office/powerpoint/2010/main" val="355303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04" y="642548"/>
            <a:ext cx="9259592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6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232" y="1503591"/>
            <a:ext cx="8855535" cy="385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1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625" y="1455391"/>
            <a:ext cx="9000750" cy="3947218"/>
          </a:xfrm>
        </p:spPr>
      </p:pic>
    </p:spTree>
    <p:extLst>
      <p:ext uri="{BB962C8B-B14F-4D97-AF65-F5344CB8AC3E}">
        <p14:creationId xmlns:p14="http://schemas.microsoft.com/office/powerpoint/2010/main" val="24789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cap="all" dirty="0">
                <a:solidFill>
                  <a:schemeClr val="bg1"/>
                </a:solidFill>
              </a:rPr>
              <a:t>средство безопасной передачи и хранения информации в корпоративной среде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45141" y="5613717"/>
            <a:ext cx="5756745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Выполнил</a:t>
            </a:r>
            <a:r>
              <a:rPr lang="en-US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Исмагилов Булат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Фиргатович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Учитель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r>
              <a:rPr lang="ru-RU" dirty="0" smtClean="0">
                <a:solidFill>
                  <a:schemeClr val="bg1"/>
                </a:solidFill>
              </a:rPr>
              <a:t> Садриев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Вячеслав Эдуардович</a:t>
            </a:r>
          </a:p>
        </p:txBody>
      </p:sp>
    </p:spTree>
    <p:extLst>
      <p:ext uri="{BB962C8B-B14F-4D97-AF65-F5344CB8AC3E}">
        <p14:creationId xmlns:p14="http://schemas.microsoft.com/office/powerpoint/2010/main" val="425683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164</Words>
  <Application>Microsoft Office PowerPoint</Application>
  <PresentationFormat>Широкоэкранный</PresentationFormat>
  <Paragraphs>84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средство безопасной передачи и хранения информации в корпоративной среде</vt:lpstr>
      <vt:lpstr>Актуальность</vt:lpstr>
      <vt:lpstr>Функции проекта</vt:lpstr>
      <vt:lpstr>Аналоги</vt:lpstr>
      <vt:lpstr>Презентация PowerPoint</vt:lpstr>
      <vt:lpstr> </vt:lpstr>
      <vt:lpstr>Презентация PowerPoint</vt:lpstr>
      <vt:lpstr>Презентация PowerPoint</vt:lpstr>
      <vt:lpstr>средство безопасной передачи и хранения информации в корпоративной среде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2 1</dc:creator>
  <cp:lastModifiedBy>2 1</cp:lastModifiedBy>
  <cp:revision>24</cp:revision>
  <dcterms:created xsi:type="dcterms:W3CDTF">2025-12-16T13:51:47Z</dcterms:created>
  <dcterms:modified xsi:type="dcterms:W3CDTF">2025-12-17T14:13:25Z</dcterms:modified>
</cp:coreProperties>
</file>